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65" r:id="rId5"/>
    <p:sldId id="264" r:id="rId6"/>
    <p:sldId id="260" r:id="rId7"/>
    <p:sldId id="258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5" autoAdjust="0"/>
    <p:restoredTop sz="94660"/>
  </p:normalViewPr>
  <p:slideViewPr>
    <p:cSldViewPr snapToGrid="0">
      <p:cViewPr>
        <p:scale>
          <a:sx n="103" d="100"/>
          <a:sy n="103" d="100"/>
        </p:scale>
        <p:origin x="25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01288" y="-1"/>
            <a:ext cx="12192000" cy="6858000"/>
          </a:xfrm>
          <a:prstGeom prst="rect">
            <a:avLst/>
          </a:prstGeom>
          <a:solidFill>
            <a:srgbClr val="EF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58220" y="0"/>
            <a:ext cx="3333779" cy="373376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568697"/>
            <a:ext cx="3327440" cy="328930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2755859" y="3199515"/>
            <a:ext cx="6508750" cy="1261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1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6800" b="1" kern="0" spc="-2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6800" b="1" kern="0" spc="-2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bSecScanne</a:t>
            </a:r>
            <a:r>
              <a:rPr sz="6800" b="1" kern="0" spc="8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6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52550" algn="l" rtl="0" eaLnBrk="0">
              <a:lnSpc>
                <a:spcPct val="81000"/>
              </a:lnSpc>
              <a:spcBef>
                <a:spcPts val="1"/>
              </a:spcBef>
              <a:tabLst/>
            </a:pP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3130519" y="5908737"/>
            <a:ext cx="5936615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501680" y="1066139"/>
            <a:ext cx="286766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9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Fachbereich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Kommunikat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597119" y="448317"/>
            <a:ext cx="1266189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1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149319" y="430204"/>
            <a:ext cx="1175385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9410739" y="2513932"/>
            <a:ext cx="412750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00110</a:t>
            </a: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101110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011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8040" y="400027"/>
            <a:ext cx="546079" cy="469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8015616" y="2362796"/>
            <a:ext cx="3612515" cy="421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81000"/>
              </a:lnSpc>
              <a:tabLst/>
            </a:pPr>
            <a:r>
              <a:rPr sz="2400" kern="0" spc="-30" dirty="0">
                <a:solidFill>
                  <a:srgbClr val="6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Delta-Scan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726"/>
              </a:spcBef>
              <a:tabLst/>
            </a:pPr>
            <a:r>
              <a:rPr sz="2400" kern="0" spc="-10" dirty="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Testing</a:t>
            </a:r>
            <a:r>
              <a:rPr sz="2400" kern="0" spc="220" dirty="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-10" dirty="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lang="de-DE" sz="2400" kern="0" spc="-1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Dokumentatio</a:t>
            </a:r>
            <a:r>
              <a:rPr sz="2400" kern="0" spc="-2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81000"/>
              </a:lnSpc>
              <a:spcBef>
                <a:spcPts val="724"/>
              </a:spcBef>
              <a:tabLst/>
            </a:pPr>
            <a:r>
              <a:rPr sz="2400" kern="0" spc="-10" dirty="0">
                <a:solidFill>
                  <a:srgbClr val="4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Benutzer-Authentifizierung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2400" kern="0" spc="-30" dirty="0">
                <a:solidFill>
                  <a:srgbClr val="5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Elevator</a:t>
            </a:r>
            <a:r>
              <a:rPr sz="2400" kern="0" spc="610" dirty="0">
                <a:solidFill>
                  <a:srgbClr val="5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5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Pitch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2153091" y="1961426"/>
            <a:ext cx="3048635" cy="4634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1"/>
              </a:lnSpc>
              <a:tabLst/>
            </a:pPr>
            <a:r>
              <a:rPr sz="2400" kern="0" spc="-10" dirty="0">
                <a:solidFill>
                  <a:srgbClr val="5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Tool-Integration</a:t>
            </a:r>
            <a:r>
              <a:rPr lang="de-DE" sz="2400" kern="0" spc="-10" dirty="0">
                <a:solidFill>
                  <a:srgbClr val="5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in Frontend (Harvester)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729"/>
              </a:spcBef>
              <a:tabLst/>
            </a:pPr>
            <a:r>
              <a:rPr sz="2400" kern="0" spc="-10" dirty="0">
                <a:solidFill>
                  <a:srgbClr val="5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Frontend-</a:t>
            </a:r>
            <a:r>
              <a:rPr sz="2400" kern="0" spc="-10" dirty="0" err="1">
                <a:solidFill>
                  <a:srgbClr val="5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Finalisi</a:t>
            </a:r>
            <a:r>
              <a:rPr sz="2400" kern="0" spc="-20" dirty="0" err="1">
                <a:solidFill>
                  <a:srgbClr val="5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erung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"/>
              </a:spcBef>
              <a:tabLst/>
            </a:pPr>
            <a:endParaRPr lang="de-DE" sz="2400" kern="0" spc="-30" dirty="0">
              <a:solidFill>
                <a:srgbClr val="508020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2400" kern="0" spc="-30" dirty="0">
                <a:solidFill>
                  <a:srgbClr val="508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Poster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89611" y="547957"/>
            <a:ext cx="9085580" cy="1300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40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Sprint-Rückblick:Ziele</a:t>
            </a:r>
            <a:r>
              <a:rPr sz="40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</a:t>
            </a:r>
            <a:r>
              <a:rPr sz="40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Ergebnis</a:t>
            </a: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</a:t>
            </a:r>
            <a:endParaRPr sz="4000" dirty="0">
              <a:latin typeface="Arial"/>
              <a:ea typeface="Arial"/>
              <a:cs typeface="Arial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16719" y="4762402"/>
            <a:ext cx="976265" cy="1968496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02091" y="1953202"/>
            <a:ext cx="939759" cy="819187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086" y="1961426"/>
            <a:ext cx="876239" cy="869937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721448" y="3422623"/>
            <a:ext cx="730300" cy="901689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10750519" y="111132"/>
            <a:ext cx="1105535" cy="408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9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Westfälische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</a:t>
            </a:r>
            <a:r>
              <a:rPr sz="15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3" name="Grafik 2" descr="Ein Bild, das Entwurf, Rechteck, Diagramm, Clipart enthält.&#10;&#10;KI-generierte Inhalte können fehlerhaft sein.">
            <a:extLst>
              <a:ext uri="{FF2B5EF4-FFF2-40B4-BE49-F238E27FC236}">
                <a16:creationId xmlns:a16="http://schemas.microsoft.com/office/drawing/2014/main" id="{F8DF89B6-CA62-C94B-B25A-F62AE5BF57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72" y="3182834"/>
            <a:ext cx="1312463" cy="2593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893F-6DB1-03E9-9B70-FCBA8F6F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>
            <a:extLst>
              <a:ext uri="{FF2B5EF4-FFF2-40B4-BE49-F238E27FC236}">
                <a16:creationId xmlns:a16="http://schemas.microsoft.com/office/drawing/2014/main" id="{C67C7B73-2645-FA84-8331-842BF02096BE}"/>
              </a:ext>
            </a:extLst>
          </p:cNvPr>
          <p:cNvSpPr/>
          <p:nvPr/>
        </p:nvSpPr>
        <p:spPr>
          <a:xfrm>
            <a:off x="101288" y="-1"/>
            <a:ext cx="12192000" cy="6858000"/>
          </a:xfrm>
          <a:prstGeom prst="rect">
            <a:avLst/>
          </a:prstGeom>
          <a:solidFill>
            <a:srgbClr val="EF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33552C7-BC93-896E-8922-DE75EAD2B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58220" y="0"/>
            <a:ext cx="3333779" cy="373376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096948-6875-E84B-B6C9-E69010708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568697"/>
            <a:ext cx="3327440" cy="3289302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1DC53B1-F1FD-D8C7-B30A-01F2BC6AE59A}"/>
              </a:ext>
            </a:extLst>
          </p:cNvPr>
          <p:cNvSpPr/>
          <p:nvPr/>
        </p:nvSpPr>
        <p:spPr>
          <a:xfrm>
            <a:off x="3130519" y="5908737"/>
            <a:ext cx="5936615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7B27CC8-47F8-FA90-86D4-09020F376D79}"/>
              </a:ext>
            </a:extLst>
          </p:cNvPr>
          <p:cNvSpPr/>
          <p:nvPr/>
        </p:nvSpPr>
        <p:spPr>
          <a:xfrm>
            <a:off x="501680" y="1066139"/>
            <a:ext cx="286766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9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Fachbereich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Kommunikat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0516399-0C38-CF8B-E0A9-1B4D7DBD4660}"/>
              </a:ext>
            </a:extLst>
          </p:cNvPr>
          <p:cNvSpPr/>
          <p:nvPr/>
        </p:nvSpPr>
        <p:spPr>
          <a:xfrm>
            <a:off x="2597119" y="448317"/>
            <a:ext cx="1266189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1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8DAAC8E-7B49-856B-BA0A-EDD9F4A7913D}"/>
              </a:ext>
            </a:extLst>
          </p:cNvPr>
          <p:cNvSpPr/>
          <p:nvPr/>
        </p:nvSpPr>
        <p:spPr>
          <a:xfrm>
            <a:off x="1149319" y="430204"/>
            <a:ext cx="1175385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40CA419-4F9F-3CE7-4FA7-D6DF22965A21}"/>
              </a:ext>
            </a:extLst>
          </p:cNvPr>
          <p:cNvSpPr/>
          <p:nvPr/>
        </p:nvSpPr>
        <p:spPr>
          <a:xfrm>
            <a:off x="9410739" y="2513932"/>
            <a:ext cx="412750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00110</a:t>
            </a: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101110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011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56E88078-1442-C7C5-F17F-DEC4CE11E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8040" y="400027"/>
            <a:ext cx="546079" cy="46991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12823BB-9703-E772-D6B5-F6AAFCA721BD}"/>
              </a:ext>
            </a:extLst>
          </p:cNvPr>
          <p:cNvSpPr txBox="1"/>
          <p:nvPr/>
        </p:nvSpPr>
        <p:spPr>
          <a:xfrm>
            <a:off x="101288" y="1503903"/>
            <a:ext cx="67517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Api und Integration Testing :</a:t>
            </a:r>
          </a:p>
          <a:p>
            <a:endParaRPr lang="de-DE" dirty="0"/>
          </a:p>
        </p:txBody>
      </p:sp>
      <p:pic>
        <p:nvPicPr>
          <p:cNvPr id="5" name="Grafik 4" descr="Ein Bild, das Text, Software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0F8D70EA-2323-2BEB-4BA4-7D33B4341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730" y="2446637"/>
            <a:ext cx="8439158" cy="44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0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F7BE-8C04-F48C-C0DD-E886B613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>
            <a:extLst>
              <a:ext uri="{FF2B5EF4-FFF2-40B4-BE49-F238E27FC236}">
                <a16:creationId xmlns:a16="http://schemas.microsoft.com/office/drawing/2014/main" id="{28F93F17-9378-1C39-D006-2130AB73BA4F}"/>
              </a:ext>
            </a:extLst>
          </p:cNvPr>
          <p:cNvSpPr/>
          <p:nvPr/>
        </p:nvSpPr>
        <p:spPr>
          <a:xfrm>
            <a:off x="101288" y="-1"/>
            <a:ext cx="12192000" cy="6858000"/>
          </a:xfrm>
          <a:prstGeom prst="rect">
            <a:avLst/>
          </a:prstGeom>
          <a:solidFill>
            <a:srgbClr val="EF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4EA8B92-78C3-FA7F-5086-4C4FB8B9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58220" y="0"/>
            <a:ext cx="3333779" cy="373376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41EAF85-48F4-6D3F-4E46-7687D511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568697"/>
            <a:ext cx="3327440" cy="3289302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378AC17-354D-02A8-212D-1482BC1F5C08}"/>
              </a:ext>
            </a:extLst>
          </p:cNvPr>
          <p:cNvSpPr/>
          <p:nvPr/>
        </p:nvSpPr>
        <p:spPr>
          <a:xfrm>
            <a:off x="3130519" y="5908737"/>
            <a:ext cx="5936615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3CE0E9A-F714-A1BA-D83D-0B868364EF73}"/>
              </a:ext>
            </a:extLst>
          </p:cNvPr>
          <p:cNvSpPr/>
          <p:nvPr/>
        </p:nvSpPr>
        <p:spPr>
          <a:xfrm>
            <a:off x="501680" y="1066139"/>
            <a:ext cx="286766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9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Fachbereich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Kommunikat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97991E1-979A-427B-28D7-DF8060CF6D20}"/>
              </a:ext>
            </a:extLst>
          </p:cNvPr>
          <p:cNvSpPr/>
          <p:nvPr/>
        </p:nvSpPr>
        <p:spPr>
          <a:xfrm>
            <a:off x="2597119" y="448317"/>
            <a:ext cx="1266189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1"/>
              </a:lnSpc>
              <a:tabLst/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HIT</a:t>
            </a: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83AEC30-E9DE-B9C3-0139-B8860CC43A3D}"/>
              </a:ext>
            </a:extLst>
          </p:cNvPr>
          <p:cNvSpPr/>
          <p:nvPr/>
        </p:nvSpPr>
        <p:spPr>
          <a:xfrm>
            <a:off x="1149319" y="430204"/>
            <a:ext cx="1175385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9584A84-8853-CCF5-276F-460381CB3A64}"/>
              </a:ext>
            </a:extLst>
          </p:cNvPr>
          <p:cNvSpPr/>
          <p:nvPr/>
        </p:nvSpPr>
        <p:spPr>
          <a:xfrm>
            <a:off x="9410739" y="2513932"/>
            <a:ext cx="412750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00110</a:t>
            </a: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101110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011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D188D3FD-D6B4-55FE-0D33-0266080A9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8040" y="400027"/>
            <a:ext cx="546079" cy="46991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DF23688-7990-F390-8CEF-EA040A6E4E48}"/>
              </a:ext>
            </a:extLst>
          </p:cNvPr>
          <p:cNvSpPr txBox="1"/>
          <p:nvPr/>
        </p:nvSpPr>
        <p:spPr>
          <a:xfrm>
            <a:off x="322909" y="1519536"/>
            <a:ext cx="375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Unit Testing :</a:t>
            </a:r>
          </a:p>
        </p:txBody>
      </p:sp>
      <p:pic>
        <p:nvPicPr>
          <p:cNvPr id="5" name="Grafik 4" descr="Ein Bild, das Multimedia-Software, Grafiksoftware, 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C646D4C1-F062-6B25-23D6-7B44FA4FE1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967" y="2019816"/>
            <a:ext cx="8982406" cy="46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9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3BBB-D52D-3847-D69D-07096097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>
            <a:extLst>
              <a:ext uri="{FF2B5EF4-FFF2-40B4-BE49-F238E27FC236}">
                <a16:creationId xmlns:a16="http://schemas.microsoft.com/office/drawing/2014/main" id="{0674180C-071E-FE60-AC2C-B31CB99BE23A}"/>
              </a:ext>
            </a:extLst>
          </p:cNvPr>
          <p:cNvSpPr/>
          <p:nvPr/>
        </p:nvSpPr>
        <p:spPr>
          <a:xfrm>
            <a:off x="101288" y="-1"/>
            <a:ext cx="12192000" cy="6858000"/>
          </a:xfrm>
          <a:prstGeom prst="rect">
            <a:avLst/>
          </a:prstGeom>
          <a:solidFill>
            <a:srgbClr val="EF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30205F1-43EA-02CA-D535-7315B8B18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58220" y="0"/>
            <a:ext cx="3333779" cy="373376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4C97751-76F5-F3CC-9001-45EC09C2C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568697"/>
            <a:ext cx="3327440" cy="3289302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959F6B39-AFE8-A2F6-D181-C1EB952A59C2}"/>
              </a:ext>
            </a:extLst>
          </p:cNvPr>
          <p:cNvSpPr/>
          <p:nvPr/>
        </p:nvSpPr>
        <p:spPr>
          <a:xfrm>
            <a:off x="3130519" y="5908737"/>
            <a:ext cx="5936615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4D5C9F-F605-9E0E-F053-1AF29E0AE753}"/>
              </a:ext>
            </a:extLst>
          </p:cNvPr>
          <p:cNvSpPr/>
          <p:nvPr/>
        </p:nvSpPr>
        <p:spPr>
          <a:xfrm>
            <a:off x="501680" y="1066139"/>
            <a:ext cx="286766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9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Fachbereich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Kommunikat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3954DF5-2678-4203-3089-EAFE76255C87}"/>
              </a:ext>
            </a:extLst>
          </p:cNvPr>
          <p:cNvSpPr/>
          <p:nvPr/>
        </p:nvSpPr>
        <p:spPr>
          <a:xfrm>
            <a:off x="2597119" y="448317"/>
            <a:ext cx="1266189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1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9673BB5-0EC2-4720-30F9-C543D63DBA0F}"/>
              </a:ext>
            </a:extLst>
          </p:cNvPr>
          <p:cNvSpPr/>
          <p:nvPr/>
        </p:nvSpPr>
        <p:spPr>
          <a:xfrm>
            <a:off x="1149319" y="430204"/>
            <a:ext cx="1175385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D7ED76A-0B7E-8AA0-680E-5337613DB926}"/>
              </a:ext>
            </a:extLst>
          </p:cNvPr>
          <p:cNvSpPr/>
          <p:nvPr/>
        </p:nvSpPr>
        <p:spPr>
          <a:xfrm>
            <a:off x="9410739" y="2513932"/>
            <a:ext cx="412750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00110</a:t>
            </a: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101110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1001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011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6E09FBE8-55AA-2347-62C7-E3C23899E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8040" y="400027"/>
            <a:ext cx="546079" cy="46991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4973424-709F-719C-FBC1-1EC3FB9A5EB4}"/>
              </a:ext>
            </a:extLst>
          </p:cNvPr>
          <p:cNvSpPr txBox="1"/>
          <p:nvPr/>
        </p:nvSpPr>
        <p:spPr>
          <a:xfrm>
            <a:off x="781079" y="1510305"/>
            <a:ext cx="6072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Dokumentation :</a:t>
            </a:r>
          </a:p>
        </p:txBody>
      </p:sp>
      <p:pic>
        <p:nvPicPr>
          <p:cNvPr id="7" name="Grafik 6" descr="Ein Bild, das Text, Screenshot, Quittung enthält.&#10;&#10;KI-generierte Inhalte können fehlerhaft sein.">
            <a:extLst>
              <a:ext uri="{FF2B5EF4-FFF2-40B4-BE49-F238E27FC236}">
                <a16:creationId xmlns:a16="http://schemas.microsoft.com/office/drawing/2014/main" id="{7305EDC0-ABC9-4244-2377-B5F31AFC4C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794" y="1893626"/>
            <a:ext cx="7188199" cy="433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8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-38040" y="110790"/>
            <a:ext cx="12192000" cy="685800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2726422" y="4810838"/>
            <a:ext cx="5258742" cy="266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34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Live-Demonstr</a:t>
            </a:r>
            <a:r>
              <a:rPr sz="3400" b="1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</a:t>
            </a:r>
            <a:endParaRPr sz="3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54100" algn="l" rtl="0" eaLnBrk="0">
              <a:lnSpc>
                <a:spcPct val="82000"/>
              </a:lnSpc>
              <a:spcBef>
                <a:spcPts val="750"/>
              </a:spcBef>
              <a:tabLst>
                <a:tab pos="1167764" algn="l"/>
              </a:tabLst>
            </a:pP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50840" y="0"/>
            <a:ext cx="12103120" cy="663618"/>
            <a:chOff x="0" y="0"/>
            <a:chExt cx="12103120" cy="663618"/>
          </a:xfrm>
        </p:grpSpPr>
        <p:pic>
          <p:nvPicPr>
            <p:cNvPr id="98" name="picture 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103120" cy="577855"/>
            </a:xfrm>
            <a:prstGeom prst="rect">
              <a:avLst/>
            </a:prstGeom>
          </p:spPr>
        </p:pic>
        <p:sp>
          <p:nvSpPr>
            <p:cNvPr id="100" name="textbox 100"/>
            <p:cNvSpPr/>
            <p:nvPr/>
          </p:nvSpPr>
          <p:spPr>
            <a:xfrm>
              <a:off x="330139" y="-12541"/>
              <a:ext cx="2995295" cy="688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453"/>
                </a:lnSpc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Show&amp;Tell</a:t>
              </a:r>
              <a:r>
                <a:rPr sz="1800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2026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635"/>
                </a:lnSpc>
                <a:spcBef>
                  <a:spcPts val="1"/>
                </a:spcBef>
                <a:tabLst/>
              </a:pPr>
              <a:r>
                <a:rPr sz="1200" kern="0" spc="-1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Fachbereich</a:t>
              </a:r>
              <a:r>
                <a:rPr sz="1200" kern="0" spc="22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1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Informatik</a:t>
              </a:r>
              <a:r>
                <a:rPr sz="1200" kern="0" spc="18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1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und</a:t>
              </a:r>
              <a:r>
                <a:rPr sz="1200" kern="0" spc="20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10" dirty="0">
                  <a:solidFill>
                    <a:srgbClr val="E0F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Kommunikation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0" name="textbox 110"/>
          <p:cNvSpPr/>
          <p:nvPr/>
        </p:nvSpPr>
        <p:spPr>
          <a:xfrm>
            <a:off x="8267740" y="110790"/>
            <a:ext cx="1203325" cy="467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475"/>
              </a:lnSpc>
              <a:tabLst/>
            </a:pPr>
            <a:r>
              <a:rPr sz="2100" kern="0" spc="-90" dirty="0">
                <a:solidFill>
                  <a:srgbClr val="80E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HIT</a:t>
            </a:r>
            <a:r>
              <a:rPr sz="2100" kern="0" spc="10" dirty="0">
                <a:solidFill>
                  <a:srgbClr val="80E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100" kern="0" spc="-90" dirty="0">
                <a:solidFill>
                  <a:srgbClr val="A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0750519" y="96830"/>
            <a:ext cx="1105535" cy="40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76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indent="-12064" algn="l" rtl="0" eaLnBrk="0">
              <a:lnSpc>
                <a:spcPct val="90000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Westfälische</a:t>
            </a:r>
            <a:r>
              <a:rPr sz="14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Hochschule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80299" y="914377"/>
            <a:ext cx="4311700" cy="3067103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25480" y="208645"/>
            <a:ext cx="8830309" cy="1452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11"/>
              </a:lnSpc>
              <a:tabLst/>
            </a:pP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 &amp;Tell 2026|Fachbereich</a:t>
            </a:r>
            <a:r>
              <a:rPr sz="26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Informatik und</a:t>
            </a:r>
            <a:r>
              <a:rPr sz="26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Kommun</a:t>
            </a:r>
            <a:r>
              <a:rPr sz="26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ikation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83000"/>
              </a:lnSpc>
              <a:tabLst/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Projektverlauf</a:t>
            </a:r>
            <a:r>
              <a:rPr sz="26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Entwicklung</a:t>
            </a: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April</a:t>
            </a:r>
            <a:r>
              <a:rPr sz="26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Januar</a:t>
            </a: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308059" y="4113705"/>
            <a:ext cx="948626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94"/>
              </a:lnSpc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Konzeption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Kernentwicklung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Integration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Abschluss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0356839" y="225225"/>
            <a:ext cx="542925" cy="541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49"/>
              </a:lnSpc>
              <a:tabLst/>
            </a:pPr>
            <a:r>
              <a:rPr sz="2600" b="1" kern="0" spc="-30" dirty="0">
                <a:solidFill>
                  <a:srgbClr val="509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HIT</a:t>
            </a:r>
            <a:endParaRPr sz="26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2112"/>
              </a:lnSpc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1201379" y="405383"/>
            <a:ext cx="753744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6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3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</a:t>
            </a:r>
            <a:endParaRPr sz="3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52399" y="1213413"/>
            <a:ext cx="10481944" cy="535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4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4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Technische</a:t>
            </a:r>
            <a:r>
              <a:rPr sz="41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4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Architektur&amp;Ke</a:t>
            </a: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rnfunktionalitäten</a:t>
            </a:r>
            <a:endParaRPr sz="4100" dirty="0">
              <a:latin typeface="Arial"/>
              <a:ea typeface="Arial"/>
              <a:cs typeface="Arial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571540" y="3077034"/>
            <a:ext cx="3249295" cy="1264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Modulare A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rchitektur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4000"/>
              </a:lnSpc>
              <a:spcBef>
                <a:spcPts val="516"/>
              </a:spcBef>
              <a:tabLst/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Frontend(React/Vite),Backen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(Python/Flask),PostgreSQL,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31"/>
              </a:spcBef>
              <a:tabLst/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Docker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8381980" y="3073072"/>
            <a:ext cx="3249295" cy="991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2000"/>
              </a:lnSpc>
              <a:tabLst/>
            </a:pP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Delta-Scan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indent="-12064" algn="l" rtl="0" eaLnBrk="0">
              <a:lnSpc>
                <a:spcPct val="91000"/>
              </a:lnSpc>
              <a:tabLst/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Automatische</a:t>
            </a:r>
            <a:r>
              <a:rPr sz="1900" kern="0" spc="4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Erkennu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r>
              <a:rPr sz="19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von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Veränderungen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571540" y="5416245"/>
            <a:ext cx="3056254" cy="957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EUVD-Schnittstelle</a:t>
            </a:r>
            <a:endParaRPr sz="2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939"/>
              </a:spcBef>
              <a:tabLst/>
            </a:pPr>
            <a:r>
              <a:rPr sz="19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Europ</a:t>
            </a:r>
            <a:r>
              <a:rPr sz="19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äische Vulnerabilitäts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endParaRPr sz="19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ct val="81000"/>
              </a:lnSpc>
              <a:spcBef>
                <a:spcPts val="355"/>
              </a:spcBef>
              <a:tabLst/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Datenbank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4489439" y="5436049"/>
            <a:ext cx="3527425" cy="654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5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0000"/>
              </a:lnSpc>
              <a:tabLst/>
            </a:pP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Datenverarbeitung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5"/>
              </a:spcBef>
              <a:tabLst/>
            </a:pP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Vereinheitlichung von</a:t>
            </a:r>
            <a:r>
              <a:rPr sz="1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Rohdaten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4489439" y="3092876"/>
            <a:ext cx="2887979" cy="670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Tool-Integr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7"/>
              </a:spcBef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Nmap,Nikto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,OWASP ZAP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62980" y="2133592"/>
            <a:ext cx="1524000" cy="76837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95800" y="2089152"/>
            <a:ext cx="825520" cy="819119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5099" y="2095530"/>
            <a:ext cx="812840" cy="800054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8759" y="4445012"/>
            <a:ext cx="781141" cy="800054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78339" y="4419569"/>
            <a:ext cx="654100" cy="825497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11099819" y="92053"/>
            <a:ext cx="9906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3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Westfälis</a:t>
            </a:r>
            <a:r>
              <a:rPr sz="13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</a:t>
            </a: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Hochschule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571540" y="64170"/>
            <a:ext cx="49403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3"/>
              </a:lnSpc>
              <a:tabLst/>
            </a:pP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HIT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07"/>
              </a:lnSpc>
              <a:tabLst/>
            </a:pP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515600" y="44439"/>
            <a:ext cx="527060" cy="431779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7040" y="12687"/>
            <a:ext cx="412699" cy="5207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Macintosh PowerPoint</Application>
  <PresentationFormat>Breitbild</PresentationFormat>
  <Paragraphs>157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siham zidoun</cp:lastModifiedBy>
  <cp:revision>3</cp:revision>
  <dcterms:created xsi:type="dcterms:W3CDTF">2026-01-15T16:54:17Z</dcterms:created>
  <dcterms:modified xsi:type="dcterms:W3CDTF">2026-01-15T12:50:36Z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2026-01-15T16:54:19Z</vt:filetime>
  </property>
  <property fmtid="{D5CDD505-2E9C-101B-9397-08002B2CF9AE}" pid="4" name="UsrData">
    <vt:lpwstr>6968ab361b46a00001a75e2awl</vt:lpwstr>
  </property>
</Properties>
</file>